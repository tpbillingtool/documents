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6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015"/>
    <a:srgbClr val="111425"/>
    <a:srgbClr val="0B0A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73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9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1ED037B-6B85-1892-6BCE-89BA8E8C1B48}"/>
              </a:ext>
            </a:extLst>
          </p:cNvPr>
          <p:cNvSpPr/>
          <p:nvPr/>
        </p:nvSpPr>
        <p:spPr>
          <a:xfrm>
            <a:off x="843200" y="1258176"/>
            <a:ext cx="4013616" cy="369331"/>
          </a:xfrm>
          <a:prstGeom prst="roundRect">
            <a:avLst>
              <a:gd name="adj" fmla="val 50000"/>
            </a:avLst>
          </a:prstGeom>
          <a:solidFill>
            <a:srgbClr val="11142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E4062-DF48-3FE6-2513-BEC384F94959}"/>
              </a:ext>
            </a:extLst>
          </p:cNvPr>
          <p:cNvSpPr txBox="1"/>
          <p:nvPr/>
        </p:nvSpPr>
        <p:spPr>
          <a:xfrm>
            <a:off x="678307" y="1961002"/>
            <a:ext cx="60935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sz="9600" b="1" i="0" dirty="0">
                <a:solidFill>
                  <a:srgbClr val="EDEDED"/>
                </a:solidFill>
                <a:effectLst/>
                <a:latin typeface="Inter"/>
              </a:rPr>
              <a:t>Billig365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28A6F0-BA68-D19D-9AD6-FEE3E700DB5D}"/>
              </a:ext>
            </a:extLst>
          </p:cNvPr>
          <p:cNvSpPr txBox="1"/>
          <p:nvPr/>
        </p:nvSpPr>
        <p:spPr>
          <a:xfrm>
            <a:off x="948131" y="1258175"/>
            <a:ext cx="3788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cap="all" dirty="0">
                <a:solidFill>
                  <a:srgbClr val="818CF8"/>
                </a:solidFill>
                <a:effectLst/>
                <a:latin typeface="Inter"/>
              </a:rPr>
              <a:t>DEVELOPMENT PROPOSAL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72D21E-8461-7904-4129-DD2FFA3E89D9}"/>
              </a:ext>
            </a:extLst>
          </p:cNvPr>
          <p:cNvSpPr txBox="1"/>
          <p:nvPr/>
        </p:nvSpPr>
        <p:spPr>
          <a:xfrm>
            <a:off x="738267" y="3467472"/>
            <a:ext cx="60935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888888"/>
                </a:solidFill>
                <a:effectLst/>
                <a:latin typeface="Inter"/>
              </a:rPr>
              <a:t>In-house infrastructure for complete technological independence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49123D-F13F-B3C5-2341-2FFDCE732176}"/>
              </a:ext>
            </a:extLst>
          </p:cNvPr>
          <p:cNvSpPr txBox="1"/>
          <p:nvPr/>
        </p:nvSpPr>
        <p:spPr>
          <a:xfrm>
            <a:off x="738267" y="4949944"/>
            <a:ext cx="60935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b="1" i="0" cap="all" dirty="0">
                <a:solidFill>
                  <a:srgbClr val="888888"/>
                </a:solidFill>
                <a:effectLst/>
                <a:latin typeface="Inter"/>
              </a:rPr>
              <a:t>Customer</a:t>
            </a:r>
          </a:p>
          <a:p>
            <a:pPr algn="l">
              <a:buNone/>
            </a:pPr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TP </a:t>
            </a:r>
            <a:r>
              <a:rPr lang="en-US" dirty="0">
                <a:solidFill>
                  <a:srgbClr val="FFFFFF"/>
                </a:solidFill>
                <a:latin typeface="Inter"/>
              </a:rPr>
              <a:t>G</a:t>
            </a:r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lobal - Regional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3FAE3F-E86C-E6AB-6AB9-1EAC6EB7E56D}"/>
              </a:ext>
            </a:extLst>
          </p:cNvPr>
          <p:cNvSpPr txBox="1"/>
          <p:nvPr/>
        </p:nvSpPr>
        <p:spPr>
          <a:xfrm>
            <a:off x="3541427" y="4949944"/>
            <a:ext cx="60935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b="1" i="0" cap="all" dirty="0">
                <a:solidFill>
                  <a:srgbClr val="888888"/>
                </a:solidFill>
                <a:effectLst/>
                <a:latin typeface="Inter"/>
              </a:rPr>
              <a:t>status</a:t>
            </a:r>
          </a:p>
          <a:p>
            <a:pPr algn="l">
              <a:buNone/>
            </a:pPr>
            <a:r>
              <a:rPr lang="en-US" dirty="0">
                <a:solidFill>
                  <a:srgbClr val="FFFFFF"/>
                </a:solidFill>
                <a:latin typeface="Inter"/>
              </a:rPr>
              <a:t>In Progress</a:t>
            </a:r>
            <a:endParaRPr lang="en-US" b="0" i="0" dirty="0">
              <a:solidFill>
                <a:srgbClr val="FFFFFF"/>
              </a:solidFill>
              <a:effectLst/>
              <a:latin typeface="Inter"/>
            </a:endParaRPr>
          </a:p>
        </p:txBody>
      </p:sp>
      <p:pic>
        <p:nvPicPr>
          <p:cNvPr id="1026" name="Picture 2" descr="44 millones resultados de imágenes, fotos de stock e ilustraciones libres  de regalías para Tecnologica | Shutterstock">
            <a:extLst>
              <a:ext uri="{FF2B5EF4-FFF2-40B4-BE49-F238E27FC236}">
                <a16:creationId xmlns:a16="http://schemas.microsoft.com/office/drawing/2014/main" id="{F2C2D452-D923-D6A5-73FE-C7705890F3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05"/>
          <a:stretch>
            <a:fillRect/>
          </a:stretch>
        </p:blipFill>
        <p:spPr bwMode="auto">
          <a:xfrm>
            <a:off x="6185412" y="2018762"/>
            <a:ext cx="5355765" cy="25982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9" name="Picture 18" descr="A white letter with a black background&#10;&#10;AI-generated content may be incorrect.">
            <a:extLst>
              <a:ext uri="{FF2B5EF4-FFF2-40B4-BE49-F238E27FC236}">
                <a16:creationId xmlns:a16="http://schemas.microsoft.com/office/drawing/2014/main" id="{C868AAE9-14C1-5345-BBDE-E07C263F8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923" y="5633389"/>
            <a:ext cx="729810" cy="72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563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84866C-B02C-D157-4612-F4EBDFEA3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81E538-4102-0E14-392E-217984D3ED3D}"/>
              </a:ext>
            </a:extLst>
          </p:cNvPr>
          <p:cNvSpPr/>
          <p:nvPr/>
        </p:nvSpPr>
        <p:spPr>
          <a:xfrm>
            <a:off x="633334" y="1300396"/>
            <a:ext cx="4781862" cy="2128604"/>
          </a:xfrm>
          <a:prstGeom prst="roundRect">
            <a:avLst/>
          </a:prstGeom>
          <a:solidFill>
            <a:srgbClr val="11101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white letter with a black background&#10;&#10;AI-generated content may be incorrect.">
            <a:extLst>
              <a:ext uri="{FF2B5EF4-FFF2-40B4-BE49-F238E27FC236}">
                <a16:creationId xmlns:a16="http://schemas.microsoft.com/office/drawing/2014/main" id="{92C5B81A-AEE2-D8B6-7CA0-9E51D858E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793" y="5663369"/>
            <a:ext cx="729810" cy="7298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3F6DBB-85BC-3709-9277-7A66199FBE2E}"/>
              </a:ext>
            </a:extLst>
          </p:cNvPr>
          <p:cNvSpPr txBox="1"/>
          <p:nvPr/>
        </p:nvSpPr>
        <p:spPr>
          <a:xfrm>
            <a:off x="633333" y="242554"/>
            <a:ext cx="77161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n-US" sz="3600" b="1" i="0" dirty="0">
                <a:solidFill>
                  <a:srgbClr val="EDEDED"/>
                </a:solidFill>
                <a:effectLst/>
                <a:latin typeface="Inter"/>
              </a:rPr>
              <a:t>Our Current Strategic Challenge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0DFC89-ED25-116D-EFAC-B7443CE558BE}"/>
              </a:ext>
            </a:extLst>
          </p:cNvPr>
          <p:cNvSpPr txBox="1"/>
          <p:nvPr/>
        </p:nvSpPr>
        <p:spPr>
          <a:xfrm>
            <a:off x="764498" y="1934686"/>
            <a:ext cx="4527029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ES" b="1" i="0" dirty="0" err="1">
                <a:solidFill>
                  <a:srgbClr val="FFFFFF"/>
                </a:solidFill>
                <a:effectLst/>
                <a:latin typeface="Inter"/>
              </a:rPr>
              <a:t>Critical</a:t>
            </a:r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 </a:t>
            </a:r>
            <a:r>
              <a:rPr lang="es-ES" b="1" i="0" dirty="0" err="1">
                <a:solidFill>
                  <a:srgbClr val="FFFFFF"/>
                </a:solidFill>
                <a:effectLst/>
                <a:latin typeface="Inter"/>
              </a:rPr>
              <a:t>Latency</a:t>
            </a:r>
            <a:endParaRPr lang="es-ES" b="1" i="0" dirty="0">
              <a:solidFill>
                <a:srgbClr val="FFFFFF"/>
              </a:solidFill>
              <a:effectLst/>
              <a:latin typeface="Inter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Microsoft's current workflows are experiencing significant slowdowns that are impacting daily tasks</a:t>
            </a:r>
            <a:r>
              <a:rPr lang="es-ES" b="0" i="0" dirty="0">
                <a:solidFill>
                  <a:srgbClr val="888888"/>
                </a:solidFill>
                <a:effectLst/>
                <a:latin typeface="Inter"/>
              </a:rPr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917053-7BE5-6A5A-6CC7-8268BA31479D}"/>
              </a:ext>
            </a:extLst>
          </p:cNvPr>
          <p:cNvSpPr/>
          <p:nvPr/>
        </p:nvSpPr>
        <p:spPr>
          <a:xfrm>
            <a:off x="6096000" y="1271373"/>
            <a:ext cx="4781862" cy="2128604"/>
          </a:xfrm>
          <a:prstGeom prst="roundRect">
            <a:avLst/>
          </a:prstGeom>
          <a:solidFill>
            <a:srgbClr val="11101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9280EC-190F-781A-723C-846A94D50871}"/>
              </a:ext>
            </a:extLst>
          </p:cNvPr>
          <p:cNvSpPr/>
          <p:nvPr/>
        </p:nvSpPr>
        <p:spPr>
          <a:xfrm>
            <a:off x="633333" y="3866899"/>
            <a:ext cx="4781862" cy="2128604"/>
          </a:xfrm>
          <a:prstGeom prst="roundRect">
            <a:avLst/>
          </a:prstGeom>
          <a:solidFill>
            <a:srgbClr val="11101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0355A7-FED6-70AB-D5E2-03FEB0205D3F}"/>
              </a:ext>
            </a:extLst>
          </p:cNvPr>
          <p:cNvSpPr/>
          <p:nvPr/>
        </p:nvSpPr>
        <p:spPr>
          <a:xfrm>
            <a:off x="6096000" y="3866899"/>
            <a:ext cx="4781862" cy="2128604"/>
          </a:xfrm>
          <a:prstGeom prst="roundRect">
            <a:avLst/>
          </a:prstGeom>
          <a:solidFill>
            <a:srgbClr val="11101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ABFD92-D832-8873-485E-C740A3DF7E39}"/>
              </a:ext>
            </a:extLst>
          </p:cNvPr>
          <p:cNvSpPr txBox="1"/>
          <p:nvPr/>
        </p:nvSpPr>
        <p:spPr>
          <a:xfrm>
            <a:off x="6218420" y="1971845"/>
            <a:ext cx="451453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ES" b="1" i="0" dirty="0" err="1">
                <a:solidFill>
                  <a:srgbClr val="FFFFFF"/>
                </a:solidFill>
                <a:effectLst/>
                <a:latin typeface="Inter"/>
              </a:rPr>
              <a:t>Document</a:t>
            </a:r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 Management</a:t>
            </a:r>
          </a:p>
          <a:p>
            <a:r>
              <a:rPr lang="en-US" dirty="0">
                <a:solidFill>
                  <a:srgbClr val="888888"/>
                </a:solidFill>
                <a:latin typeface="Inter"/>
              </a:rPr>
              <a:t>The file upload and organization process is complex, manual, and susceptible to human error.</a:t>
            </a:r>
            <a:endParaRPr lang="es-ES" b="0" i="0" dirty="0">
              <a:solidFill>
                <a:srgbClr val="888888"/>
              </a:solidFill>
              <a:effectLst/>
              <a:latin typeface="Inter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740206-F385-F03C-088A-D5551D1D53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63" t="14965" r="12580" b="7720"/>
          <a:stretch>
            <a:fillRect/>
          </a:stretch>
        </p:blipFill>
        <p:spPr>
          <a:xfrm>
            <a:off x="4371068" y="1496787"/>
            <a:ext cx="480749" cy="4750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32CFFC-8EAA-67D3-6899-BD9A91690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1768" t="14305" r="8836" b="7108"/>
          <a:stretch>
            <a:fillRect/>
          </a:stretch>
        </p:blipFill>
        <p:spPr>
          <a:xfrm>
            <a:off x="9837366" y="1432980"/>
            <a:ext cx="535828" cy="52195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B77C6AB-5E5B-DAAC-6DC9-F2635A026813}"/>
              </a:ext>
            </a:extLst>
          </p:cNvPr>
          <p:cNvSpPr txBox="1"/>
          <p:nvPr/>
        </p:nvSpPr>
        <p:spPr>
          <a:xfrm>
            <a:off x="749507" y="4556929"/>
            <a:ext cx="45270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User </a:t>
            </a:r>
            <a:r>
              <a:rPr lang="es-ES" b="1" i="0" dirty="0" err="1">
                <a:solidFill>
                  <a:srgbClr val="FFFFFF"/>
                </a:solidFill>
                <a:effectLst/>
                <a:latin typeface="Inter"/>
              </a:rPr>
              <a:t>friction</a:t>
            </a:r>
            <a:br>
              <a:rPr lang="es-ES" b="1" i="0" dirty="0">
                <a:solidFill>
                  <a:srgbClr val="FFFFFF"/>
                </a:solidFill>
                <a:effectLst/>
                <a:latin typeface="Inter"/>
              </a:rPr>
            </a:b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Unintuitive interfaces increase the learning curve and generate resistance within work teams.</a:t>
            </a:r>
            <a:endParaRPr lang="es-ES" b="0" i="0" dirty="0">
              <a:solidFill>
                <a:srgbClr val="888888"/>
              </a:solidFill>
              <a:effectLst/>
              <a:latin typeface="Inter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8434D87-6340-6543-D71F-E769A43112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13541" y="4044552"/>
            <a:ext cx="504895" cy="49536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7BD847F-B2B4-9252-9EF6-32D3BC87A04F}"/>
              </a:ext>
            </a:extLst>
          </p:cNvPr>
          <p:cNvSpPr txBox="1"/>
          <p:nvPr/>
        </p:nvSpPr>
        <p:spPr>
          <a:xfrm>
            <a:off x="6188440" y="4556373"/>
            <a:ext cx="463445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ES" b="1" i="0" dirty="0" err="1">
                <a:solidFill>
                  <a:srgbClr val="FFFFFF"/>
                </a:solidFill>
                <a:effectLst/>
                <a:latin typeface="Inter"/>
              </a:rPr>
              <a:t>Migration</a:t>
            </a:r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 </a:t>
            </a:r>
            <a:r>
              <a:rPr lang="es-ES" b="1" i="0" dirty="0" err="1">
                <a:solidFill>
                  <a:srgbClr val="FFFFFF"/>
                </a:solidFill>
                <a:effectLst/>
                <a:latin typeface="Inter"/>
              </a:rPr>
              <a:t>Risk</a:t>
            </a:r>
            <a:endParaRPr lang="es-ES" b="1" i="0" dirty="0">
              <a:solidFill>
                <a:srgbClr val="FFFFFF"/>
              </a:solidFill>
              <a:effectLst/>
              <a:latin typeface="Inter"/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888888"/>
                </a:solidFill>
                <a:latin typeface="Inter"/>
              </a:rPr>
              <a:t>Reliance on platforms that may be blocked or restricted during the future migration to Google.</a:t>
            </a:r>
            <a:endParaRPr lang="es-ES" b="0" i="0" dirty="0">
              <a:solidFill>
                <a:srgbClr val="888888"/>
              </a:solidFill>
              <a:effectLst/>
              <a:latin typeface="Inter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328CD98-A60D-2515-AD04-2121558F3B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8772" y="4070845"/>
            <a:ext cx="514422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06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AC5844-13E8-2ED3-E809-F07922220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white letter with a black background&#10;&#10;AI-generated content may be incorrect.">
            <a:extLst>
              <a:ext uri="{FF2B5EF4-FFF2-40B4-BE49-F238E27FC236}">
                <a16:creationId xmlns:a16="http://schemas.microsoft.com/office/drawing/2014/main" id="{7D19B356-C9E9-1587-CA02-259D6AC45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793" y="5663369"/>
            <a:ext cx="729810" cy="7298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213B7C-CA4A-BDCD-7661-17F71C2AD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970" y="1459558"/>
            <a:ext cx="5607508" cy="26627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495568D-FEA1-8C9D-3060-2AD83C4B9AFF}"/>
              </a:ext>
            </a:extLst>
          </p:cNvPr>
          <p:cNvSpPr txBox="1"/>
          <p:nvPr/>
        </p:nvSpPr>
        <p:spPr>
          <a:xfrm>
            <a:off x="712711" y="419851"/>
            <a:ext cx="5233390" cy="305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s-ES" sz="5400" b="1" i="0" dirty="0" err="1">
                <a:solidFill>
                  <a:srgbClr val="EDEDED"/>
                </a:solidFill>
                <a:effectLst/>
                <a:latin typeface="Inter"/>
              </a:rPr>
              <a:t>Technological</a:t>
            </a:r>
            <a:r>
              <a:rPr lang="es-ES" sz="5400" b="1" i="0" dirty="0">
                <a:solidFill>
                  <a:srgbClr val="EDEDED"/>
                </a:solidFill>
                <a:effectLst/>
                <a:latin typeface="Inter"/>
              </a:rPr>
              <a:t> </a:t>
            </a:r>
            <a:r>
              <a:rPr lang="es-ES" sz="5400" b="1" i="0" dirty="0" err="1">
                <a:solidFill>
                  <a:srgbClr val="EDEDED"/>
                </a:solidFill>
                <a:effectLst/>
                <a:latin typeface="Inter"/>
              </a:rPr>
              <a:t>Sovereignty</a:t>
            </a:r>
            <a:endParaRPr lang="es-ES" sz="5400" b="1" i="0" dirty="0">
              <a:solidFill>
                <a:srgbClr val="EDEDED"/>
              </a:solidFill>
              <a:effectLst/>
              <a:latin typeface="Inter"/>
            </a:endParaRPr>
          </a:p>
          <a:p>
            <a:pPr algn="l">
              <a:spcAft>
                <a:spcPts val="1500"/>
              </a:spcAft>
              <a:buNone/>
            </a:pPr>
            <a:r>
              <a:rPr lang="en-US" sz="2400" b="0" i="0" dirty="0">
                <a:solidFill>
                  <a:srgbClr val="888888"/>
                </a:solidFill>
                <a:effectLst/>
                <a:latin typeface="Inter"/>
              </a:rPr>
              <a:t>Build a robust and modern tool designed to be scalable and fully configurable outside of cloud services.</a:t>
            </a:r>
            <a:endParaRPr lang="es-ES" sz="2400" b="0" i="0" dirty="0">
              <a:solidFill>
                <a:srgbClr val="888888"/>
              </a:solidFill>
              <a:effectLst/>
              <a:latin typeface="Inte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078D12-7E99-1184-C8D3-73C98B56BC18}"/>
              </a:ext>
            </a:extLst>
          </p:cNvPr>
          <p:cNvSpPr txBox="1"/>
          <p:nvPr/>
        </p:nvSpPr>
        <p:spPr>
          <a:xfrm>
            <a:off x="697720" y="4082562"/>
            <a:ext cx="5188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b="1" i="0" dirty="0">
                <a:solidFill>
                  <a:srgbClr val="888888"/>
                </a:solidFill>
                <a:effectLst/>
                <a:latin typeface="Inter"/>
              </a:rPr>
              <a:t>Cloud Decoupling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: Full independence from Microsoft/Google environments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A87D50-E71F-E67A-3D63-2659E0179080}"/>
              </a:ext>
            </a:extLst>
          </p:cNvPr>
          <p:cNvSpPr txBox="1"/>
          <p:nvPr/>
        </p:nvSpPr>
        <p:spPr>
          <a:xfrm>
            <a:off x="697719" y="4863803"/>
            <a:ext cx="59579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b="1" i="0" dirty="0">
                <a:solidFill>
                  <a:srgbClr val="888888"/>
                </a:solidFill>
                <a:effectLst/>
                <a:latin typeface="Inter"/>
              </a:rPr>
              <a:t>Strategic Anticipation: Prepared today for tomorrow’s migration</a:t>
            </a:r>
            <a:endParaRPr lang="es-ES" b="0" i="0" dirty="0">
              <a:solidFill>
                <a:srgbClr val="888888"/>
              </a:solidFill>
              <a:effectLst/>
              <a:latin typeface="Inte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E62666-C527-A223-7FFC-DFB99975B621}"/>
              </a:ext>
            </a:extLst>
          </p:cNvPr>
          <p:cNvSpPr txBox="1"/>
          <p:nvPr/>
        </p:nvSpPr>
        <p:spPr>
          <a:xfrm>
            <a:off x="697719" y="5698389"/>
            <a:ext cx="7996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b="1" i="0" dirty="0">
                <a:solidFill>
                  <a:srgbClr val="888888"/>
                </a:solidFill>
                <a:effectLst/>
                <a:latin typeface="Inter"/>
              </a:rPr>
              <a:t>Business Continuity: Minimizing the impact on current developments.</a:t>
            </a:r>
            <a:endParaRPr lang="es-ES" b="0" i="0" dirty="0">
              <a:solidFill>
                <a:srgbClr val="888888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75835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1CCCB0-84D0-9BC2-3399-864B05021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8B1E6C-CF98-8674-9C19-5F2DF5039529}"/>
              </a:ext>
            </a:extLst>
          </p:cNvPr>
          <p:cNvSpPr txBox="1"/>
          <p:nvPr/>
        </p:nvSpPr>
        <p:spPr>
          <a:xfrm>
            <a:off x="613505" y="571686"/>
            <a:ext cx="6093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n-US" sz="5400" b="1" i="0" dirty="0">
                <a:solidFill>
                  <a:srgbClr val="EDEDED"/>
                </a:solidFill>
                <a:effectLst/>
                <a:latin typeface="Inter"/>
              </a:rPr>
              <a:t>Design Pillars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323258-260F-BD5E-1455-4B42AFC674D2}"/>
              </a:ext>
            </a:extLst>
          </p:cNvPr>
          <p:cNvSpPr/>
          <p:nvPr/>
        </p:nvSpPr>
        <p:spPr>
          <a:xfrm>
            <a:off x="603354" y="1716770"/>
            <a:ext cx="3219138" cy="3754638"/>
          </a:xfrm>
          <a:prstGeom prst="roundRect">
            <a:avLst>
              <a:gd name="adj" fmla="val 16667"/>
            </a:avLst>
          </a:prstGeom>
          <a:solidFill>
            <a:srgbClr val="111015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E754D-CA39-CE77-7E17-8C7ED683D523}"/>
              </a:ext>
            </a:extLst>
          </p:cNvPr>
          <p:cNvSpPr txBox="1"/>
          <p:nvPr/>
        </p:nvSpPr>
        <p:spPr>
          <a:xfrm>
            <a:off x="933140" y="2121827"/>
            <a:ext cx="25895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US" b="0" i="0" dirty="0">
              <a:solidFill>
                <a:srgbClr val="888888"/>
              </a:solidFill>
              <a:effectLst/>
              <a:latin typeface="Inter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A flexible architecture capable of pivoting quickly in response to regulatory or business changes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2334D5-2D50-11F3-AE47-76F1CB45BDFB}"/>
              </a:ext>
            </a:extLst>
          </p:cNvPr>
          <p:cNvSpPr/>
          <p:nvPr/>
        </p:nvSpPr>
        <p:spPr>
          <a:xfrm>
            <a:off x="4486431" y="1716770"/>
            <a:ext cx="3219138" cy="3754638"/>
          </a:xfrm>
          <a:prstGeom prst="roundRect">
            <a:avLst/>
          </a:prstGeom>
          <a:solidFill>
            <a:srgbClr val="111015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CB5873-0623-2C20-0EB8-8C98557BA481}"/>
              </a:ext>
            </a:extLst>
          </p:cNvPr>
          <p:cNvSpPr/>
          <p:nvPr/>
        </p:nvSpPr>
        <p:spPr>
          <a:xfrm>
            <a:off x="8369508" y="1716770"/>
            <a:ext cx="3219138" cy="3754638"/>
          </a:xfrm>
          <a:prstGeom prst="roundRect">
            <a:avLst/>
          </a:prstGeom>
          <a:solidFill>
            <a:srgbClr val="111015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94CC7-818F-B2F8-8DF1-AD9E204F6A5C}"/>
              </a:ext>
            </a:extLst>
          </p:cNvPr>
          <p:cNvSpPr txBox="1"/>
          <p:nvPr/>
        </p:nvSpPr>
        <p:spPr>
          <a:xfrm>
            <a:off x="4767810" y="2093936"/>
            <a:ext cx="26972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s-ES" b="0" i="0" dirty="0">
              <a:solidFill>
                <a:srgbClr val="888888"/>
              </a:solidFill>
              <a:effectLst/>
              <a:latin typeface="Inter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Configurable by Country.</a:t>
            </a:r>
          </a:p>
          <a:p>
            <a:pPr algn="l">
              <a:buNone/>
            </a:pP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A single core with multiple local regulatory and legislative configurations.</a:t>
            </a:r>
            <a:endParaRPr lang="es-ES" b="0" i="0" dirty="0">
              <a:solidFill>
                <a:srgbClr val="888888"/>
              </a:solidFill>
              <a:effectLst/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80D6DF-0FFB-1713-6D1D-064E9EC08C4F}"/>
              </a:ext>
            </a:extLst>
          </p:cNvPr>
          <p:cNvSpPr txBox="1"/>
          <p:nvPr/>
        </p:nvSpPr>
        <p:spPr>
          <a:xfrm>
            <a:off x="8679159" y="2138608"/>
            <a:ext cx="25797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s-ES" b="0" i="0" dirty="0">
              <a:solidFill>
                <a:srgbClr val="888888"/>
              </a:solidFill>
              <a:effectLst/>
              <a:latin typeface="Inter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A clean and modular codebase designed for adaptability and easy maintenance</a:t>
            </a:r>
            <a:endParaRPr lang="es-ES" b="0" i="0" dirty="0">
              <a:solidFill>
                <a:srgbClr val="888888"/>
              </a:solidFill>
              <a:effectLst/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D9E346-869C-57F7-FAA5-B1F5A3E68309}"/>
              </a:ext>
            </a:extLst>
          </p:cNvPr>
          <p:cNvSpPr txBox="1"/>
          <p:nvPr/>
        </p:nvSpPr>
        <p:spPr>
          <a:xfrm>
            <a:off x="4782800" y="4006831"/>
            <a:ext cx="2127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5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Peru (Fase I)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899583-192E-7D27-F03D-A57E8642A05B}"/>
              </a:ext>
            </a:extLst>
          </p:cNvPr>
          <p:cNvSpPr txBox="1"/>
          <p:nvPr/>
        </p:nvSpPr>
        <p:spPr>
          <a:xfrm>
            <a:off x="4782800" y="4354856"/>
            <a:ext cx="2259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5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Colombia (Fase I)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8AC1A3-F46A-26D1-B39C-E6E4EA741C01}"/>
              </a:ext>
            </a:extLst>
          </p:cNvPr>
          <p:cNvSpPr txBox="1"/>
          <p:nvPr/>
        </p:nvSpPr>
        <p:spPr>
          <a:xfrm>
            <a:off x="4816069" y="4724188"/>
            <a:ext cx="2417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5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Rollout Global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8749E89-E9BA-F398-DF81-23EC1E01AD09}"/>
              </a:ext>
            </a:extLst>
          </p:cNvPr>
          <p:cNvSpPr/>
          <p:nvPr/>
        </p:nvSpPr>
        <p:spPr>
          <a:xfrm>
            <a:off x="613505" y="1719925"/>
            <a:ext cx="3208987" cy="369331"/>
          </a:xfrm>
          <a:prstGeom prst="roundRect">
            <a:avLst>
              <a:gd name="adj" fmla="val 50000"/>
            </a:avLst>
          </a:prstGeom>
          <a:solidFill>
            <a:srgbClr val="11142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8F179D-E16A-C67A-362E-26E638FAFD35}"/>
              </a:ext>
            </a:extLst>
          </p:cNvPr>
          <p:cNvSpPr txBox="1"/>
          <p:nvPr/>
        </p:nvSpPr>
        <p:spPr>
          <a:xfrm>
            <a:off x="603354" y="1730229"/>
            <a:ext cx="3219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cap="all" dirty="0" err="1">
                <a:solidFill>
                  <a:srgbClr val="818CF8"/>
                </a:solidFill>
                <a:latin typeface="Inter"/>
              </a:rPr>
              <a:t>VERSATIlity</a:t>
            </a:r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34210C1-A509-D4DB-0AD5-E0620BADEE04}"/>
              </a:ext>
            </a:extLst>
          </p:cNvPr>
          <p:cNvSpPr/>
          <p:nvPr/>
        </p:nvSpPr>
        <p:spPr>
          <a:xfrm>
            <a:off x="4496582" y="1724610"/>
            <a:ext cx="3208987" cy="369331"/>
          </a:xfrm>
          <a:prstGeom prst="roundRect">
            <a:avLst>
              <a:gd name="adj" fmla="val 50000"/>
            </a:avLst>
          </a:prstGeom>
          <a:solidFill>
            <a:srgbClr val="11142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CC91CA-E88E-A77D-B6C0-0C564BF5BD8C}"/>
              </a:ext>
            </a:extLst>
          </p:cNvPr>
          <p:cNvSpPr txBox="1"/>
          <p:nvPr/>
        </p:nvSpPr>
        <p:spPr>
          <a:xfrm>
            <a:off x="4486431" y="1734914"/>
            <a:ext cx="3219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cap="all" dirty="0">
                <a:solidFill>
                  <a:srgbClr val="818CF8"/>
                </a:solidFill>
                <a:latin typeface="Inter"/>
              </a:rPr>
              <a:t>scalability</a:t>
            </a:r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47AE414-2A4D-64B5-A26C-FBB4A4EE381E}"/>
              </a:ext>
            </a:extLst>
          </p:cNvPr>
          <p:cNvSpPr/>
          <p:nvPr/>
        </p:nvSpPr>
        <p:spPr>
          <a:xfrm>
            <a:off x="8379659" y="1724610"/>
            <a:ext cx="3208987" cy="369331"/>
          </a:xfrm>
          <a:prstGeom prst="roundRect">
            <a:avLst>
              <a:gd name="adj" fmla="val 50000"/>
            </a:avLst>
          </a:prstGeom>
          <a:solidFill>
            <a:srgbClr val="11142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8653C0-115A-30C9-7839-DFCFFD188FAA}"/>
              </a:ext>
            </a:extLst>
          </p:cNvPr>
          <p:cNvSpPr txBox="1"/>
          <p:nvPr/>
        </p:nvSpPr>
        <p:spPr>
          <a:xfrm>
            <a:off x="8369508" y="1734914"/>
            <a:ext cx="3219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cap="all" dirty="0">
                <a:solidFill>
                  <a:srgbClr val="818CF8"/>
                </a:solidFill>
                <a:latin typeface="Inter"/>
              </a:rPr>
              <a:t>maintainability</a:t>
            </a:r>
            <a:endParaRPr lang="en-US" dirty="0"/>
          </a:p>
        </p:txBody>
      </p:sp>
      <p:pic>
        <p:nvPicPr>
          <p:cNvPr id="32" name="Picture 31" descr="A white letter with a black background&#10;&#10;AI-generated content may be incorrect.">
            <a:extLst>
              <a:ext uri="{FF2B5EF4-FFF2-40B4-BE49-F238E27FC236}">
                <a16:creationId xmlns:a16="http://schemas.microsoft.com/office/drawing/2014/main" id="{B73B5EC4-3515-593D-5716-055B224F1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793" y="5663369"/>
            <a:ext cx="729810" cy="72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383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DF460-1289-9DC3-0AE3-FCA279EC7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D3507CB-7398-54A1-90AB-A3446ADCFCA4}"/>
              </a:ext>
            </a:extLst>
          </p:cNvPr>
          <p:cNvSpPr/>
          <p:nvPr/>
        </p:nvSpPr>
        <p:spPr>
          <a:xfrm>
            <a:off x="5693765" y="1540640"/>
            <a:ext cx="5849910" cy="4305524"/>
          </a:xfrm>
          <a:prstGeom prst="roundRect">
            <a:avLst>
              <a:gd name="adj" fmla="val 16667"/>
            </a:avLst>
          </a:prstGeom>
          <a:solidFill>
            <a:srgbClr val="111015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A white letter with a black background&#10;&#10;AI-generated content may be incorrect.">
            <a:extLst>
              <a:ext uri="{FF2B5EF4-FFF2-40B4-BE49-F238E27FC236}">
                <a16:creationId xmlns:a16="http://schemas.microsoft.com/office/drawing/2014/main" id="{CACE0BB4-469B-6195-3F3F-BA553FB98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793" y="5663369"/>
            <a:ext cx="729810" cy="7298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663204-B90C-B864-3080-2A6FA314F287}"/>
              </a:ext>
            </a:extLst>
          </p:cNvPr>
          <p:cNvSpPr txBox="1"/>
          <p:nvPr/>
        </p:nvSpPr>
        <p:spPr>
          <a:xfrm>
            <a:off x="5991069" y="617309"/>
            <a:ext cx="6093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n-US" sz="5400" b="1" i="0" dirty="0">
                <a:solidFill>
                  <a:srgbClr val="EDEDED"/>
                </a:solidFill>
                <a:effectLst/>
                <a:latin typeface="Inter"/>
              </a:rPr>
              <a:t>Data 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DF175E-6B46-9FC9-FD2D-D82A35ACC8B8}"/>
              </a:ext>
            </a:extLst>
          </p:cNvPr>
          <p:cNvSpPr txBox="1"/>
          <p:nvPr/>
        </p:nvSpPr>
        <p:spPr>
          <a:xfrm>
            <a:off x="6176094" y="1802790"/>
            <a:ext cx="4927724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5"/>
              </a:spcAft>
              <a:buNone/>
            </a:pPr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Big Data</a:t>
            </a:r>
          </a:p>
          <a:p>
            <a:pPr algn="l">
              <a:buNone/>
            </a:pP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Optimized system architecture designed to scale to millions of records while maintaining consistent performance</a:t>
            </a:r>
            <a:endParaRPr lang="es-ES" b="0" i="0" dirty="0">
              <a:solidFill>
                <a:srgbClr val="888888"/>
              </a:solidFill>
              <a:effectLst/>
              <a:latin typeface="Int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03DFF6-C67B-BA89-BFD4-F7779871C9E1}"/>
              </a:ext>
            </a:extLst>
          </p:cNvPr>
          <p:cNvSpPr txBox="1"/>
          <p:nvPr/>
        </p:nvSpPr>
        <p:spPr>
          <a:xfrm>
            <a:off x="6176094" y="3150645"/>
            <a:ext cx="4927724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5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Inter"/>
              </a:rPr>
              <a:t>Multi-Tenant &amp; Multi-Source</a:t>
            </a:r>
          </a:p>
          <a:p>
            <a:pPr algn="l">
              <a:buNone/>
            </a:pP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Ability to connect simultaneously to several database servers located across different regions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B5506F-EEEE-2EDE-3A84-D4685258D36C}"/>
              </a:ext>
            </a:extLst>
          </p:cNvPr>
          <p:cNvSpPr txBox="1"/>
          <p:nvPr/>
        </p:nvSpPr>
        <p:spPr>
          <a:xfrm>
            <a:off x="6176094" y="4272097"/>
            <a:ext cx="4927724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5"/>
              </a:spcAft>
              <a:buNone/>
            </a:pPr>
            <a:r>
              <a:rPr lang="es-ES" b="1" i="0" dirty="0" err="1">
                <a:solidFill>
                  <a:srgbClr val="FFFFFF"/>
                </a:solidFill>
                <a:effectLst/>
                <a:latin typeface="Inter"/>
              </a:rPr>
              <a:t>Document</a:t>
            </a:r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 </a:t>
            </a:r>
            <a:r>
              <a:rPr lang="es-ES" b="1" i="0" dirty="0" err="1">
                <a:solidFill>
                  <a:srgbClr val="FFFFFF"/>
                </a:solidFill>
                <a:effectLst/>
                <a:latin typeface="Inter"/>
              </a:rPr>
              <a:t>Federation</a:t>
            </a:r>
            <a:endParaRPr lang="es-ES" b="1" i="0" dirty="0">
              <a:solidFill>
                <a:srgbClr val="FFFFFF"/>
              </a:solidFill>
              <a:effectLst/>
              <a:latin typeface="Inter"/>
            </a:endParaRPr>
          </a:p>
          <a:p>
            <a:pPr algn="l">
              <a:spcAft>
                <a:spcPts val="375"/>
              </a:spcAft>
              <a:buNone/>
            </a:pP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Documentation resides on servers managed by each department, while only the metadata is centralized</a:t>
            </a:r>
            <a:endParaRPr lang="es-ES" b="0" i="0" dirty="0">
              <a:solidFill>
                <a:srgbClr val="888888"/>
              </a:solidFill>
              <a:effectLst/>
              <a:latin typeface="Inter"/>
            </a:endParaRPr>
          </a:p>
        </p:txBody>
      </p:sp>
      <p:pic>
        <p:nvPicPr>
          <p:cNvPr id="2052" name="Picture 4" descr="Reconocer los diferentes tipos de datos, indispensable en la era del Big  Data">
            <a:extLst>
              <a:ext uri="{FF2B5EF4-FFF2-40B4-BE49-F238E27FC236}">
                <a16:creationId xmlns:a16="http://schemas.microsoft.com/office/drawing/2014/main" id="{342E0842-7F75-12E0-91AC-87FD09BD1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70" y="1724684"/>
            <a:ext cx="4322238" cy="31321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41827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6AF71-ECBD-48CC-B177-637FAC7FD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A white letter with a black background&#10;&#10;AI-generated content may be incorrect.">
            <a:extLst>
              <a:ext uri="{FF2B5EF4-FFF2-40B4-BE49-F238E27FC236}">
                <a16:creationId xmlns:a16="http://schemas.microsoft.com/office/drawing/2014/main" id="{2FF135A9-BBFD-228D-6E8E-78B6BC2C7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793" y="5663369"/>
            <a:ext cx="729810" cy="7298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6A44FD-8C45-1635-3A88-8F6026E8447E}"/>
              </a:ext>
            </a:extLst>
          </p:cNvPr>
          <p:cNvSpPr txBox="1"/>
          <p:nvPr/>
        </p:nvSpPr>
        <p:spPr>
          <a:xfrm>
            <a:off x="2836889" y="82886"/>
            <a:ext cx="609350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  <a:buNone/>
            </a:pPr>
            <a:r>
              <a:rPr lang="es-ES" sz="4800" b="1" i="0" dirty="0">
                <a:solidFill>
                  <a:srgbClr val="EDEDED"/>
                </a:solidFill>
                <a:effectLst/>
                <a:latin typeface="Inter"/>
              </a:rPr>
              <a:t>Modern </a:t>
            </a:r>
            <a:r>
              <a:rPr lang="es-ES" sz="4800" b="1" i="0" dirty="0" err="1">
                <a:solidFill>
                  <a:srgbClr val="EDEDED"/>
                </a:solidFill>
                <a:effectLst/>
                <a:latin typeface="Inter"/>
              </a:rPr>
              <a:t>Stack</a:t>
            </a:r>
            <a:endParaRPr lang="es-ES" sz="4800" b="1" i="0" dirty="0">
              <a:solidFill>
                <a:srgbClr val="EDEDED"/>
              </a:solidFill>
              <a:effectLst/>
              <a:latin typeface="Inter"/>
            </a:endParaRPr>
          </a:p>
          <a:p>
            <a:pPr algn="ctr">
              <a:spcAft>
                <a:spcPts val="3000"/>
              </a:spcAft>
              <a:buNone/>
            </a:pPr>
            <a:r>
              <a:rPr lang="en-US" sz="2400" b="0" i="0" dirty="0">
                <a:solidFill>
                  <a:srgbClr val="888888"/>
                </a:solidFill>
                <a:effectLst/>
                <a:latin typeface="Inter"/>
              </a:rPr>
              <a:t>Technology choices guided by the principles of performance, security, and efficiency</a:t>
            </a:r>
            <a:endParaRPr lang="es-ES" sz="2400" b="0" i="0" dirty="0">
              <a:solidFill>
                <a:srgbClr val="888888"/>
              </a:solidFill>
              <a:effectLst/>
              <a:latin typeface="Inter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57B329-2678-DD6F-5CE2-DB9E05F4AEBA}"/>
              </a:ext>
            </a:extLst>
          </p:cNvPr>
          <p:cNvSpPr/>
          <p:nvPr/>
        </p:nvSpPr>
        <p:spPr>
          <a:xfrm>
            <a:off x="888167" y="2576923"/>
            <a:ext cx="4868052" cy="3389161"/>
          </a:xfrm>
          <a:prstGeom prst="roundRect">
            <a:avLst>
              <a:gd name="adj" fmla="val 16667"/>
            </a:avLst>
          </a:prstGeom>
          <a:solidFill>
            <a:srgbClr val="111015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FF1E31-53AF-2D8F-5FBB-881B914D99CF}"/>
              </a:ext>
            </a:extLst>
          </p:cNvPr>
          <p:cNvSpPr txBox="1"/>
          <p:nvPr/>
        </p:nvSpPr>
        <p:spPr>
          <a:xfrm>
            <a:off x="1018087" y="3748882"/>
            <a:ext cx="4588233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s-ES" b="1" i="0" dirty="0" err="1">
                <a:solidFill>
                  <a:srgbClr val="FFFFFF"/>
                </a:solidFill>
                <a:effectLst/>
                <a:latin typeface="Inter"/>
              </a:rPr>
              <a:t>Backend</a:t>
            </a:r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: Django</a:t>
            </a:r>
          </a:p>
          <a:p>
            <a:pPr algn="ctr">
              <a:buNone/>
            </a:pP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High‑security standards, rapid development cycles, and a well‑established ecosystem</a:t>
            </a:r>
            <a:r>
              <a:rPr lang="es-ES" b="0" i="0" dirty="0">
                <a:solidFill>
                  <a:srgbClr val="888888"/>
                </a:solidFill>
                <a:effectLst/>
                <a:latin typeface="Inter"/>
              </a:rPr>
              <a:t>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4C1F2D-A59C-426D-DDC7-8C3F27F51BA1}"/>
              </a:ext>
            </a:extLst>
          </p:cNvPr>
          <p:cNvSpPr/>
          <p:nvPr/>
        </p:nvSpPr>
        <p:spPr>
          <a:xfrm>
            <a:off x="6305860" y="2576924"/>
            <a:ext cx="4868052" cy="3389160"/>
          </a:xfrm>
          <a:prstGeom prst="roundRect">
            <a:avLst>
              <a:gd name="adj" fmla="val 16667"/>
            </a:avLst>
          </a:prstGeom>
          <a:solidFill>
            <a:srgbClr val="111015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D29C6-D8C2-9F3C-97FD-A8B81278D550}"/>
              </a:ext>
            </a:extLst>
          </p:cNvPr>
          <p:cNvSpPr txBox="1"/>
          <p:nvPr/>
        </p:nvSpPr>
        <p:spPr>
          <a:xfrm>
            <a:off x="6505730" y="3748882"/>
            <a:ext cx="4413063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s-ES" b="1" i="0" dirty="0" err="1">
                <a:solidFill>
                  <a:srgbClr val="FFFFFF"/>
                </a:solidFill>
                <a:effectLst/>
                <a:latin typeface="Inter"/>
              </a:rPr>
              <a:t>Frontend</a:t>
            </a:r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: Angular</a:t>
            </a:r>
          </a:p>
          <a:p>
            <a:pPr algn="ctr">
              <a:buNone/>
            </a:pP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A solid enterprise architecture featuring strict typing and modular, reusable components</a:t>
            </a:r>
            <a:r>
              <a:rPr lang="es-ES" b="0" i="0" dirty="0">
                <a:solidFill>
                  <a:srgbClr val="888888"/>
                </a:solidFill>
                <a:effectLst/>
                <a:latin typeface="Inter"/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4CB51C-ECA3-EAA8-EA76-06BB5AE4D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453" y="5064973"/>
            <a:ext cx="3429479" cy="5430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9F3CAF-E223-6876-6A90-F3A76FD97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963" y="5084025"/>
            <a:ext cx="3648584" cy="5048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8A8C0B5-8517-D73D-CDCA-18854D7E7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0165" y="2799085"/>
            <a:ext cx="924054" cy="7811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4D9AC4B-053B-8B47-4452-656588E775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606" y="2773168"/>
            <a:ext cx="857370" cy="7621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073DAAF-C9B6-217B-71BC-AA0B09224853}"/>
              </a:ext>
            </a:extLst>
          </p:cNvPr>
          <p:cNvSpPr txBox="1"/>
          <p:nvPr/>
        </p:nvSpPr>
        <p:spPr>
          <a:xfrm>
            <a:off x="2709469" y="788361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400" b="1" i="0" dirty="0">
                <a:solidFill>
                  <a:srgbClr val="EDEDED"/>
                </a:solidFill>
                <a:effectLst/>
                <a:latin typeface="Inter"/>
              </a:rPr>
              <a:t>TP - Process Automation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4D0965-A293-3F1D-41C8-D81F01CF923C}"/>
              </a:ext>
            </a:extLst>
          </p:cNvPr>
          <p:cNvSpPr txBox="1"/>
          <p:nvPr/>
        </p:nvSpPr>
        <p:spPr>
          <a:xfrm>
            <a:off x="972496" y="5966084"/>
            <a:ext cx="10926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endParaRPr lang="en-US" sz="1600" b="0" i="0" dirty="0">
              <a:solidFill>
                <a:srgbClr val="888888"/>
              </a:solidFill>
              <a:effectLst/>
              <a:latin typeface="Inter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rgbClr val="888888"/>
                </a:solidFill>
                <a:effectLst/>
                <a:latin typeface="Inter"/>
              </a:rPr>
              <a:t>Projected development duration: around 6 months, give or take</a:t>
            </a:r>
          </a:p>
        </p:txBody>
      </p:sp>
    </p:spTree>
    <p:extLst>
      <p:ext uri="{BB962C8B-B14F-4D97-AF65-F5344CB8AC3E}">
        <p14:creationId xmlns:p14="http://schemas.microsoft.com/office/powerpoint/2010/main" val="916352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9A7353-FB24-7292-ACDC-FD9297969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CB7020-C2C6-324D-1766-6EDABF98B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82" y="614592"/>
            <a:ext cx="11436691" cy="53036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2" name="Picture 31" descr="A white letter with a black background&#10;&#10;AI-generated content may be incorrect.">
            <a:extLst>
              <a:ext uri="{FF2B5EF4-FFF2-40B4-BE49-F238E27FC236}">
                <a16:creationId xmlns:a16="http://schemas.microsoft.com/office/drawing/2014/main" id="{E14B1AF0-92A9-4467-719F-74EBEF392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793" y="5663369"/>
            <a:ext cx="729810" cy="72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64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729B5-2D1E-A76F-423E-4E6FCBB4A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A white letter with a black background&#10;&#10;AI-generated content may be incorrect.">
            <a:extLst>
              <a:ext uri="{FF2B5EF4-FFF2-40B4-BE49-F238E27FC236}">
                <a16:creationId xmlns:a16="http://schemas.microsoft.com/office/drawing/2014/main" id="{6BFBD28E-1710-B3D4-F29F-45B9D9474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793" y="5663369"/>
            <a:ext cx="729810" cy="7298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53D360-EDD8-112B-D853-3DB65588AF34}"/>
              </a:ext>
            </a:extLst>
          </p:cNvPr>
          <p:cNvSpPr txBox="1"/>
          <p:nvPr/>
        </p:nvSpPr>
        <p:spPr>
          <a:xfrm>
            <a:off x="2791919" y="1681606"/>
            <a:ext cx="60935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8800" b="1" i="0" dirty="0">
                <a:solidFill>
                  <a:srgbClr val="EDEDED"/>
                </a:solidFill>
                <a:effectLst/>
                <a:latin typeface="Inter"/>
              </a:rPr>
              <a:t>Thanks!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EE3CF-6B91-0992-1DC8-C55450E303F5}"/>
              </a:ext>
            </a:extLst>
          </p:cNvPr>
          <p:cNvSpPr txBox="1"/>
          <p:nvPr/>
        </p:nvSpPr>
        <p:spPr>
          <a:xfrm>
            <a:off x="2915905" y="3429000"/>
            <a:ext cx="60935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 dirty="0">
                <a:solidFill>
                  <a:srgbClr val="CCCCCC"/>
                </a:solidFill>
                <a:effectLst/>
                <a:latin typeface="Inter"/>
              </a:rPr>
              <a:t>Billig365 goes beyond being a software solution; it represents a strategic capability for the company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19A792-EDF4-39B5-58F4-9D37C82F33CC}"/>
              </a:ext>
            </a:extLst>
          </p:cNvPr>
          <p:cNvSpPr txBox="1"/>
          <p:nvPr/>
        </p:nvSpPr>
        <p:spPr>
          <a:xfrm>
            <a:off x="-992713" y="437460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400" b="1" i="0" dirty="0">
                <a:solidFill>
                  <a:srgbClr val="EDEDED"/>
                </a:solidFill>
                <a:effectLst/>
                <a:latin typeface="Inter"/>
              </a:rPr>
              <a:t>TP - Process Automation</a:t>
            </a:r>
          </a:p>
        </p:txBody>
      </p:sp>
    </p:spTree>
    <p:extLst>
      <p:ext uri="{BB962C8B-B14F-4D97-AF65-F5344CB8AC3E}">
        <p14:creationId xmlns:p14="http://schemas.microsoft.com/office/powerpoint/2010/main" val="239383623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331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Inter</vt:lpstr>
      <vt:lpstr>Neue Haas Grotesk Text Pro</vt:lpstr>
      <vt:lpstr>Wingdings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Parra Gonzalez</dc:creator>
  <cp:lastModifiedBy>Juan Parra Gonzalez</cp:lastModifiedBy>
  <cp:revision>6</cp:revision>
  <dcterms:created xsi:type="dcterms:W3CDTF">2026-02-04T17:10:48Z</dcterms:created>
  <dcterms:modified xsi:type="dcterms:W3CDTF">2026-02-20T15:47:27Z</dcterms:modified>
</cp:coreProperties>
</file>